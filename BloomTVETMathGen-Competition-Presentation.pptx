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054cb701eb40c6" /><Relationship Type="http://schemas.openxmlformats.org/officeDocument/2006/relationships/extended-properties" Target="/docProps/app.xml" Id="R15f55ee0acec4d4c" /><Relationship Type="http://schemas.openxmlformats.org/officeDocument/2006/relationships/officeDocument" Target="/ppt/presentation.xml" Id="R600d760ccf714c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57d2db80b043d9"/>
  </p:sldMasterIdLst>
  <p:notesMasterIdLst>
    <p:notesMasterId xmlns:r="http://schemas.openxmlformats.org/officeDocument/2006/relationships" r:id="Ree40e0ba36a241fe"/>
  </p:notesMasterIdLst>
  <p:sldIdLst>
    <p:sldId xmlns:r="http://schemas.openxmlformats.org/officeDocument/2006/relationships" id="256" r:id="Rf38cd50077684c40"/>
    <p:sldId xmlns:r="http://schemas.openxmlformats.org/officeDocument/2006/relationships" id="257" r:id="Ra2ac30644df447af"/>
    <p:sldId xmlns:r="http://schemas.openxmlformats.org/officeDocument/2006/relationships" id="258" r:id="R7a3e2c45d690420a"/>
    <p:sldId xmlns:r="http://schemas.openxmlformats.org/officeDocument/2006/relationships" id="259" r:id="Radcbce9c09104fc4"/>
    <p:sldId xmlns:r="http://schemas.openxmlformats.org/officeDocument/2006/relationships" id="260" r:id="R6db9aa8d07ad43f8"/>
    <p:sldId xmlns:r="http://schemas.openxmlformats.org/officeDocument/2006/relationships" id="261" r:id="Ra681c34986854175"/>
    <p:sldId xmlns:r="http://schemas.openxmlformats.org/officeDocument/2006/relationships" id="262" r:id="R9c28eec9717149bb"/>
    <p:sldId xmlns:r="http://schemas.openxmlformats.org/officeDocument/2006/relationships" id="263" r:id="Ref3d9b0e4fa3479f"/>
    <p:sldId xmlns:r="http://schemas.openxmlformats.org/officeDocument/2006/relationships" id="264" r:id="Ref3e6919ea414988"/>
    <p:sldId xmlns:r="http://schemas.openxmlformats.org/officeDocument/2006/relationships" id="265" r:id="R0464befaeb6546b8"/>
    <p:sldId xmlns:r="http://schemas.openxmlformats.org/officeDocument/2006/relationships" id="266" r:id="Red5d805a33004841"/>
    <p:sldId xmlns:r="http://schemas.openxmlformats.org/officeDocument/2006/relationships" id="267" r:id="R9fe3aadc65ab4018"/>
    <p:sldId xmlns:r="http://schemas.openxmlformats.org/officeDocument/2006/relationships" id="268" r:id="R18ba6a387cd3487e"/>
    <p:sldId xmlns:r="http://schemas.openxmlformats.org/officeDocument/2006/relationships" id="269" r:id="R940f64bde17f4e92"/>
    <p:sldId xmlns:r="http://schemas.openxmlformats.org/officeDocument/2006/relationships" id="270" r:id="R06263ad535f14aaa"/>
    <p:sldId xmlns:r="http://schemas.openxmlformats.org/officeDocument/2006/relationships" id="271" r:id="Rc36b9b34d5f443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a5337e8c1640ee" /><Relationship Type="http://schemas.openxmlformats.org/officeDocument/2006/relationships/slideMaster" Target="/ppt/slideMasters/slideMaster1.xml" Id="Re257d2db80b043d9" /><Relationship Type="http://schemas.openxmlformats.org/officeDocument/2006/relationships/notesMaster" Target="/ppt/notesMasters/notesMaster1.xml" Id="Ree40e0ba36a241fe" /><Relationship Type="http://schemas.openxmlformats.org/officeDocument/2006/relationships/presProps" Target="/ppt/presProps.xml" Id="Re3f2a49b93d84a14" /><Relationship Type="http://schemas.openxmlformats.org/officeDocument/2006/relationships/tableStyles" Target="/ppt/tableStyles.xml" Id="R84ff5328f9624841" /><Relationship Type="http://schemas.openxmlformats.org/officeDocument/2006/relationships/slide" Target="/ppt/slides/slide1.xml" Id="Rf38cd50077684c40" /><Relationship Type="http://schemas.openxmlformats.org/officeDocument/2006/relationships/slide" Target="/ppt/slides/slide2.xml" Id="Ra2ac30644df447af" /><Relationship Type="http://schemas.openxmlformats.org/officeDocument/2006/relationships/slide" Target="/ppt/slides/slide3.xml" Id="R7a3e2c45d690420a" /><Relationship Type="http://schemas.openxmlformats.org/officeDocument/2006/relationships/slide" Target="/ppt/slides/slide4.xml" Id="Radcbce9c09104fc4" /><Relationship Type="http://schemas.openxmlformats.org/officeDocument/2006/relationships/slide" Target="/ppt/slides/slide5.xml" Id="R6db9aa8d07ad43f8" /><Relationship Type="http://schemas.openxmlformats.org/officeDocument/2006/relationships/slide" Target="/ppt/slides/slide6.xml" Id="Ra681c34986854175" /><Relationship Type="http://schemas.openxmlformats.org/officeDocument/2006/relationships/slide" Target="/ppt/slides/slide7.xml" Id="R9c28eec9717149bb" /><Relationship Type="http://schemas.openxmlformats.org/officeDocument/2006/relationships/slide" Target="/ppt/slides/slide8.xml" Id="Ref3d9b0e4fa3479f" /><Relationship Type="http://schemas.openxmlformats.org/officeDocument/2006/relationships/slide" Target="/ppt/slides/slide9.xml" Id="Ref3e6919ea414988" /><Relationship Type="http://schemas.openxmlformats.org/officeDocument/2006/relationships/slide" Target="/ppt/slides/slide10.xml" Id="R0464befaeb6546b8" /><Relationship Type="http://schemas.openxmlformats.org/officeDocument/2006/relationships/slide" Target="/ppt/slides/slide11.xml" Id="Red5d805a33004841" /><Relationship Type="http://schemas.openxmlformats.org/officeDocument/2006/relationships/slide" Target="/ppt/slides/slide12.xml" Id="R9fe3aadc65ab4018" /><Relationship Type="http://schemas.openxmlformats.org/officeDocument/2006/relationships/slide" Target="/ppt/slides/slide13.xml" Id="R18ba6a387cd3487e" /><Relationship Type="http://schemas.openxmlformats.org/officeDocument/2006/relationships/slide" Target="/ppt/slides/slide14.xml" Id="R940f64bde17f4e92" /><Relationship Type="http://schemas.openxmlformats.org/officeDocument/2006/relationships/slide" Target="/ppt/slides/slide15.xml" Id="R06263ad535f14aaa" /><Relationship Type="http://schemas.openxmlformats.org/officeDocument/2006/relationships/slide" Target="/ppt/slides/slide16.xml" Id="Rc36b9b34d5f443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6c31a0ee7b49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7ec59545df4cf7" /><Relationship Type="http://schemas.openxmlformats.org/officeDocument/2006/relationships/notesMaster" Target="/ppt/notesMasters/notesMaster1.xml" Id="Rbfd8a084224549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896e5538c8451b" /><Relationship Type="http://schemas.openxmlformats.org/officeDocument/2006/relationships/notesMaster" Target="/ppt/notesMasters/notesMaster1.xml" Id="R2f52446680c046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2a0a3bf0df46e3" /><Relationship Type="http://schemas.openxmlformats.org/officeDocument/2006/relationships/notesMaster" Target="/ppt/notesMasters/notesMaster1.xml" Id="Rc0ea0092235943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5d4aec75194339" /><Relationship Type="http://schemas.openxmlformats.org/officeDocument/2006/relationships/notesMaster" Target="/ppt/notesMasters/notesMaster1.xml" Id="Ra378db81a93948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2ecc4987434893" /><Relationship Type="http://schemas.openxmlformats.org/officeDocument/2006/relationships/notesMaster" Target="/ppt/notesMasters/notesMaster1.xml" Id="R59fed4c8dac14e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e69db6a5124229" /><Relationship Type="http://schemas.openxmlformats.org/officeDocument/2006/relationships/notesMaster" Target="/ppt/notesMasters/notesMaster1.xml" Id="Rf57c189e3b1a4b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4700e0d0e44c79" /><Relationship Type="http://schemas.openxmlformats.org/officeDocument/2006/relationships/notesMaster" Target="/ppt/notesMasters/notesMaster1.xml" Id="Rac7d8144ab154f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a4caf6ca6d4545" /><Relationship Type="http://schemas.openxmlformats.org/officeDocument/2006/relationships/notesMaster" Target="/ppt/notesMasters/notesMaster1.xml" Id="Rca0eeef50d514c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ef771b962b4ad1" /><Relationship Type="http://schemas.openxmlformats.org/officeDocument/2006/relationships/notesMaster" Target="/ppt/notesMasters/notesMaster1.xml" Id="R0ae97349acdf4e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ec3ab52ab64f27" /><Relationship Type="http://schemas.openxmlformats.org/officeDocument/2006/relationships/notesMaster" Target="/ppt/notesMasters/notesMaster1.xml" Id="R20d5ea09424b4b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b77ffd0426488c" /><Relationship Type="http://schemas.openxmlformats.org/officeDocument/2006/relationships/notesMaster" Target="/ppt/notesMasters/notesMaster1.xml" Id="Rce16c081f69e48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21a563b660947ce" /><Relationship Type="http://schemas.openxmlformats.org/officeDocument/2006/relationships/notesMaster" Target="/ppt/notesMasters/notesMaster1.xml" Id="Ra05e2f889bea4ff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ec8db4a4b5b49ef" /><Relationship Type="http://schemas.openxmlformats.org/officeDocument/2006/relationships/notesMaster" Target="/ppt/notesMasters/notesMaster1.xml" Id="Re5a8dccb1c144e1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bb91dfad3814c02" /><Relationship Type="http://schemas.openxmlformats.org/officeDocument/2006/relationships/notesMaster" Target="/ppt/notesMasters/notesMaster1.xml" Id="R34fdd4934022496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e080034da2d49f2" /><Relationship Type="http://schemas.openxmlformats.org/officeDocument/2006/relationships/notesMaster" Target="/ppt/notesMasters/notesMaster1.xml" Id="R4800291d8b8f4be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bb3502a76bf49db" /><Relationship Type="http://schemas.openxmlformats.org/officeDocument/2006/relationships/notesMaster" Target="/ppt/notesMasters/notesMaster1.xml" Id="R995e50649bd346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154203bb0c41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69274542e94de8" /><Relationship Type="http://schemas.openxmlformats.org/officeDocument/2006/relationships/slideLayout" Target="/ppt/slideLayouts/slideLayout1.xml" Id="R871aaebb782241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1aaebb782241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5c438a940477d" /><Relationship Type="http://schemas.openxmlformats.org/officeDocument/2006/relationships/notesSlide" Target="/ppt/notesSlides/notesSlide1.xml" Id="Rf9f57c20a23342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3cdda9e454a40" /><Relationship Type="http://schemas.openxmlformats.org/officeDocument/2006/relationships/notesSlide" Target="/ppt/notesSlides/notesSlide2.xml" Id="R75466ee9b91a46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63d7a024645c9" /><Relationship Type="http://schemas.openxmlformats.org/officeDocument/2006/relationships/notesSlide" Target="/ppt/notesSlides/notesSlide3.xml" Id="R3d07a158dd5e42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8852195c94ec4" /><Relationship Type="http://schemas.openxmlformats.org/officeDocument/2006/relationships/notesSlide" Target="/ppt/notesSlides/notesSlide4.xml" Id="R282cff2d08894e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a7a6770f44fb6" /><Relationship Type="http://schemas.openxmlformats.org/officeDocument/2006/relationships/notesSlide" Target="/ppt/notesSlides/notesSlide5.xml" Id="R2c53d2e0b8824e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0411b7cb54c47" /><Relationship Type="http://schemas.openxmlformats.org/officeDocument/2006/relationships/notesSlide" Target="/ppt/notesSlides/notesSlide6.xml" Id="R41de319073c143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1360bead64053" /><Relationship Type="http://schemas.openxmlformats.org/officeDocument/2006/relationships/notesSlide" Target="/ppt/notesSlides/notesSlide7.xml" Id="R46c6c32232284f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e020b8ee74065" /><Relationship Type="http://schemas.openxmlformats.org/officeDocument/2006/relationships/notesSlide" Target="/ppt/notesSlides/notesSlide8.xml" Id="Rf6a01934493b43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7acc474164097" /><Relationship Type="http://schemas.openxmlformats.org/officeDocument/2006/relationships/notesSlide" Target="/ppt/notesSlides/notesSlide9.xml" Id="Rc7bf6de2a70642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012a6d4f84166" /><Relationship Type="http://schemas.openxmlformats.org/officeDocument/2006/relationships/notesSlide" Target="/ppt/notesSlides/notesSlide10.xml" Id="Rd443bbaf5f0a40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55855bedb407c" /><Relationship Type="http://schemas.openxmlformats.org/officeDocument/2006/relationships/notesSlide" Target="/ppt/notesSlides/notesSlide11.xml" Id="R40cdd06983334d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2f102429a43d4" /><Relationship Type="http://schemas.openxmlformats.org/officeDocument/2006/relationships/notesSlide" Target="/ppt/notesSlides/notesSlide12.xml" Id="R96ef2c4fb735431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f52645b494f8e" /><Relationship Type="http://schemas.openxmlformats.org/officeDocument/2006/relationships/notesSlide" Target="/ppt/notesSlides/notesSlide13.xml" Id="Rf0ceff85b05747e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c35f3e7d24a00" /><Relationship Type="http://schemas.openxmlformats.org/officeDocument/2006/relationships/notesSlide" Target="/ppt/notesSlides/notesSlide14.xml" Id="Re4d872812a794b5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fff558a3248db" /><Relationship Type="http://schemas.openxmlformats.org/officeDocument/2006/relationships/notesSlide" Target="/ppt/notesSlides/notesSlide15.xml" Id="R6e1e5d58fabc43c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5c607a8444ba1" /><Relationship Type="http://schemas.openxmlformats.org/officeDocument/2006/relationships/notesSlide" Target="/ppt/notesSlides/notesSlide16.xml" Id="Re33a7d9ab0454d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3DD24-2D4C-4484-BBD0-5580C743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5905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00000"/>
                </a:solidFill>
              </a:defRPr>
            </a:pPr>
            <a:r>
              <a:rPr sz="4950" b="1">
                <a:solidFill>
                  <a:srgbClr val="000000"/>
                </a:solidFill>
              </a:rPr>
              <a:t>BloomTVET</a:t>
            </a:r>
          </a:p>
          <a:p xmlns:a="http://schemas.openxmlformats.org/drawingml/2006/main">
            <a:pPr algn="l">
              <a:defRPr sz="4950" b="1">
                <a:solidFill>
                  <a:srgbClr val="000000"/>
                </a:solidFill>
              </a:defRPr>
            </a:pPr>
            <a:r>
              <a:rPr sz="4950" b="1">
                <a:solidFill>
                  <a:srgbClr val="000000"/>
                </a:solidFill>
              </a:rPr>
              <a:t>MathGen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38F77E-015F-414E-ADCD-EE35EC7E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5563"/>
                </a:solidFill>
              </a:defRPr>
            </a:pPr>
            <a:r>
              <a:rPr sz="1875" b="0">
                <a:solidFill>
                  <a:srgbClr val="4B5563"/>
                </a:solidFill>
              </a:rPr>
              <a:t>AI assessment standardization and learning support platform for TVET mathematics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263C6-22DE-4AAE-A165-163FC270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276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C465E-665E-42BF-99AB-742F3194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66800"/>
            <a:ext cx="2990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5301E9-DF34-4F47-8A37-2A416F26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81150"/>
            <a:ext cx="2362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0000"/>
                </a:solidFill>
              </a:defRPr>
            </a:pPr>
            <a:r>
              <a:rPr sz="2475" b="1">
                <a:solidFill>
                  <a:srgbClr val="000000"/>
                </a:solidFill>
              </a:rPr>
              <a:t>Assessment</a:t>
            </a:r>
          </a:p>
          <a:p xmlns:a="http://schemas.openxmlformats.org/drawingml/2006/main">
            <a:pPr algn="l">
              <a:defRPr sz="2475" b="1">
                <a:solidFill>
                  <a:srgbClr val="000000"/>
                </a:solidFill>
              </a:defRPr>
            </a:pPr>
            <a:r>
              <a:rPr sz="2475" b="1">
                <a:solidFill>
                  <a:srgbClr val="000000"/>
                </a:solidFill>
              </a:rPr>
              <a:t>Generator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EF80C-5434-4241-8171-8703F951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8605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3D8DFF"/>
                </a:solidFill>
              </a:defRPr>
            </a:pPr>
            <a:r>
              <a:rPr sz="3375" b="1">
                <a:solidFill>
                  <a:srgbClr val="3D8DFF"/>
                </a:solidFill>
              </a:rPr>
              <a:t>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AC021-6E23-49F2-B4C9-19CDAE05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09950"/>
            <a:ext cx="2362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0000"/>
                </a:solidFill>
              </a:defRPr>
            </a:pPr>
            <a:r>
              <a:rPr sz="2475" b="1">
                <a:solidFill>
                  <a:srgbClr val="000000"/>
                </a:solidFill>
              </a:rPr>
              <a:t>BloomCoach</a:t>
            </a:r>
          </a:p>
          <a:p xmlns:a="http://schemas.openxmlformats.org/drawingml/2006/main">
            <a:pPr algn="l">
              <a:defRPr sz="2475" b="1">
                <a:solidFill>
                  <a:srgbClr val="000000"/>
                </a:solidFill>
              </a:defRPr>
            </a:pPr>
            <a:r>
              <a:rPr sz="2475" b="1">
                <a:solidFill>
                  <a:srgbClr val="000000"/>
                </a:solidFill>
              </a:rPr>
              <a:t>AI</a:t>
            </a:r>
          </a:p>
        </p:txBody>
      </p:sp>
    </p:spTree>
    <p:extLst>
      <p:ext uri="{BB962C8B-B14F-4D97-AF65-F5344CB8AC3E}">
        <p14:creationId xmlns:p14="http://schemas.microsoft.com/office/powerpoint/2010/main" val="7878201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AD8DFA-7167-4D33-B49C-35F9084B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BLOOMTVET MATHGEN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D50AF-75D6-4DD3-966F-90B6CD24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Lecturers need consistent assessment difficulty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37E0A-7785-427C-8C53-A39AA7C7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5A5E0-988B-4FAC-B487-B1E6A423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C3D19-2E70-4D5E-9C41-081A6602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717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Question difficulty can vary across lecturers and cohorts.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E669B-3A05-4D68-83F1-22ADF84C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4C1635-B76B-4ABE-94B1-2460AF4F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Bloom taxonomy levels are not always applied consistently.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69FFD-233F-46E7-A9CD-B528444A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BF5345-EDCA-4254-8FA8-6E43FEB8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Manual question preparation takes time and reduces iteration.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213B94-599B-496A-9218-30313366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43434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670DDA-A0B4-400B-B96C-46863C35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812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Competition problem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80F12A-FADB-4253-AB3A-A3E283D9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05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A068C6-5E1D-4AC2-BA9D-7B5825E9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289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Standardize difficulty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FFAAF3-790D-4AF7-A551-7ED9BFBD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29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BD00D0-E384-4906-8B43-31A6901F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5282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Align Bloom level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6ECF3D-266B-48C0-8AC3-A62D930B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52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71D120-03E6-4943-AAFA-1020A820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767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Support fast review</a:t>
            </a:r>
          </a:p>
        </p:txBody>
      </p:sp>
    </p:spTree>
    <p:extLst>
      <p:ext uri="{BB962C8B-B14F-4D97-AF65-F5344CB8AC3E}">
        <p14:creationId xmlns:p14="http://schemas.microsoft.com/office/powerpoint/2010/main" val="20727739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E4AB1D-CF29-4419-B9D5-0D1B71A7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BLOOMTVET MATHGEN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7F3D6-F22D-45B5-8B17-1DADE93B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The main aim is still assessment standardization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9B81D-6429-4031-B10A-D1635111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2D540D-DA98-4522-B153-5AFEAAB7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11618-3144-4686-A2DC-246A7163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717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Generate mathematics questions by topic, field, difficulty, and Bloom level.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6F325-F992-49F5-A601-06AD6401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D7EF64-E671-4FAF-96F4-1B096E26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Give lecturers a repeatable structure for fairer assessment.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1B2592-4E91-4B60-814E-D1D9268F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ACB5F1-5E75-43F2-88DF-1AD71496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Use AI as a controlled assistant, not as an uncontrolled answer machine.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CAE88A-8BB2-42C9-A8CC-C877F60B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43434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93DFED-467C-407E-A1EC-85F28396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812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Design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51FA8-4077-45FA-823F-971EFB4C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05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1A7B26-2838-4EB9-91D2-BEED3093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289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Lecturer first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3B8C45-D349-42DF-9DCC-822BE1F2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29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9B8CA4-4E19-44D0-9214-E78B9F7F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5282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Evidence aligned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64CCD0-C4FA-47DC-BE46-940993BE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52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01A5AC-2916-4303-87E9-1F1DEB53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767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TVET contextual</a:t>
            </a:r>
          </a:p>
        </p:txBody>
      </p:sp>
    </p:spTree>
    <p:extLst>
      <p:ext uri="{BB962C8B-B14F-4D97-AF65-F5344CB8AC3E}">
        <p14:creationId xmlns:p14="http://schemas.microsoft.com/office/powerpoint/2010/main" val="18575151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0D7301-415B-43C7-BF0D-60DBBA6B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BLOOMTVET MATHGEN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48DC6-5028-4EC4-BF2F-5A3CC940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The platform combines two connected modules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13F1C-4C4A-43D1-BF6E-625709B6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094F0-9FAF-4637-9D73-06DAE6C7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4476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91480-1DE7-4248-86FB-17279693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09800"/>
            <a:ext cx="4476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3E592-5427-4E05-B6D1-A32196AE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D73D1-D30B-4ED5-BA7C-488CD92E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527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Assessment Generator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3B0A0-5C14-4E46-A76A-CDC8661E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045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Creates structured TVET mathematics questions with Bloom taxonomy, difficulty level, marking scheme, and lecturer review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41EAB-E65A-47C4-AD95-5C0AB8B7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95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A853"/>
                </a:solidFill>
              </a:defRPr>
            </a:pPr>
            <a:r>
              <a:rPr sz="1650" b="1">
                <a:solidFill>
                  <a:srgbClr val="34A853"/>
                </a:solidFill>
              </a:rPr>
              <a:t>Module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F48FA-87E9-47EE-B05C-4FC7A6B0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527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BloomCoach 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544FB3-35A0-4CFE-AB6D-44C4CF1C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0045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</a:defRPr>
            </a:pPr>
            <a:r>
              <a:rPr sz="1425" b="0">
                <a:solidFill>
                  <a:srgbClr val="4B5563"/>
                </a:solidFill>
              </a:rPr>
              <a:t>Explains generated questions through hints, steps, daily-life stories, visual ideas, misconceptions, and challenge prompts.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06B1B-396F-485C-A321-2E3AFF96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390900"/>
            <a:ext cx="1104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236874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0F63F8-1980-4E31-8073-2CF2B1BB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BLOOMTVET MATHGEN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A18FD-642A-4AC7-B980-B8AC0372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Each role gets the support it needs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92564-6497-4097-8BA2-C9EF2D53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2B0AB-54B7-493B-A77A-DF8F5C39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F5C9F-1E1B-4C34-A553-6DB190FF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717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Lecturers generate and review questions before 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561DA-FE97-447C-ADB1-B709C605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C766B-38A0-4F8D-BFDB-28FCEE5E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Students receive guided learning support after seeing a question.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D4C18-F5A3-4B83-A19C-FBC38D92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32873-7E11-4E0C-A0AF-D4F41366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Administrators can extend the system toward LMS and reporting workflows.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FB5C41-2B90-4607-B589-65849896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43434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41B752-0D73-4CEB-AE89-262AC94B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812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Role split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584ED0-D862-45B5-A9BD-4811E2BC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05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FC2BD2-1490-4CF5-A052-0A87E7F5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289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Lecturer: standardize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055A56-0C48-4259-A7B2-C09F498B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29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819B03-74F1-48DD-8F7B-16655E44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5282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Student: understand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62FEC5-905E-4FB4-B095-1F43C238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52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DC9042-924D-4B2D-95D2-8474A7EC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767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Admin: scale</a:t>
            </a:r>
          </a:p>
        </p:txBody>
      </p:sp>
    </p:spTree>
    <p:extLst>
      <p:ext uri="{BB962C8B-B14F-4D97-AF65-F5344CB8AC3E}">
        <p14:creationId xmlns:p14="http://schemas.microsoft.com/office/powerpoint/2010/main" val="5312176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E48090-075E-4538-9F67-CFDFCE96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BLOOMTVET MATHGEN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A4990F-1C0A-417A-AA1D-74D723F3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The core features are already in the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CED59-7C6C-49B7-867A-CFA52F19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BE30A-DD9B-4B65-B09F-4820FB4C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EC2DAD-E1E6-4492-A53C-1A2F642E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717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TVET mathematics question generation by course context.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6B169-C0C1-4533-8D80-46AA744A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3578F7-71A0-4FDF-941B-4FA517AF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Bloom taxonomy, difficulty control, answers, and marking scheme.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C348A-7210-421B-9484-62911F8D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A70C8-7578-4EC5-B80F-06C4895A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Question visuals, LMS export foundations, and AI setup documentation.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1525F-0AE7-4D79-8708-F55EDF61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43434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98F9DA-18C3-4292-AD1A-C83401A0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812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Implemented 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68D2AE-5978-4C1A-9C2E-46E07803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05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38E29-7943-40D4-A741-84B4FC2F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289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Question bank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38F9D0-5011-4675-95B9-744C63C5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29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74446A-3116-4F1C-8668-F1C8B924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5282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Live AI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53660F-B0F1-4964-B5AA-BF740366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52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ABF749-2DC0-40ED-BD46-30B67B7F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767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Validation tests</a:t>
            </a:r>
          </a:p>
        </p:txBody>
      </p:sp>
    </p:spTree>
    <p:extLst>
      <p:ext uri="{BB962C8B-B14F-4D97-AF65-F5344CB8AC3E}">
        <p14:creationId xmlns:p14="http://schemas.microsoft.com/office/powerpoint/2010/main" val="2715226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3FFE3B-7140-446A-BCFD-B3A58204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BLOOMTVET MATHGEN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065A81-19C0-4E38-9FD3-315B0DC9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BloomCoach AI turns each question into learning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F2D3E-FFC7-4888-B3FD-09B93B4A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BAE773-4A15-4EB4-B3F3-6188FB8A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9525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7EE8B-EFA5-4E21-AE7E-C78BEF5F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527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Explain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33612-6957-44BB-97A5-939477F2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4BD16-0E7D-4316-9709-AED8CB30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5527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Hint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2AC5A-E26F-4768-B4C2-F48CA5DF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9527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3E1D4-831E-476E-AC67-3BFB5D1D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527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Step-by-step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AAD4D8-D602-4F6D-BEE1-6BDF6AB3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527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554FCD-24B6-4C5A-9682-23B18266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5527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Visual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C6D290-E453-4AAD-8D30-C2E1B326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9527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CB9564-4D2A-4896-88A9-21B7C788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A63CE-0D79-4587-B8D6-24FFF9C2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481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EB46F4-9F00-4D1A-953D-FF5B1591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448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Misconception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3FF181-15C1-4330-B501-9894FCCE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8481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5C6F3F-0B0C-4648-8430-E13540E6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48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95B3EA-7176-45FA-BE10-772638E9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8481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4612E-1778-49B8-903C-841FBF14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48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Challenge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D9E9DC-4EBC-4FF0-8504-458EEB3C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8481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248949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9F3AD3-4F84-4D80-B3EF-91C0FCB7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BLOOMTVET MATHGEN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BC0AB-8650-4F0E-AE1B-823B0F83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Students get help without losing the learning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014B8-9039-4B6F-8DA0-94AB1C3A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0D73E-8ADB-4D98-8AFA-DBCDB055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B9874-2427-48F1-88F7-0347EFD5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717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Hints can guide thinking before revealing a full answer.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7A60E-CEB7-4F09-8990-5E118CC9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17D722-8721-4D20-9FD2-93AB5096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Step-by-step mode breaks a solution into manageable reasoning.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03396-A5BD-42B4-B5DC-24D6FFC2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57BD2C-301F-442C-A092-AFD8A9FC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Story and visual modes connect abstract mathematics to daily life.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AEA7A-C06B-4DA3-BC00-E6AC7815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43434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D12CB8-208B-47C2-8D0A-7CBCBACA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812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Student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C7B1D4-89EA-43B6-A272-C10C1F11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05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7C90D-1633-4625-99B8-ABA5DBD6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289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Less anxiety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517D38-4845-491E-A8F3-3F487CB8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29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896898-49E4-47AC-87C4-8B64118E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5282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Clearer concepts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350EA0-0687-4400-B024-0B4963DA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52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ABB0FB-CEC1-4457-AD13-429FD3BB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767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Better self-checking</a:t>
            </a:r>
          </a:p>
        </p:txBody>
      </p:sp>
    </p:spTree>
    <p:extLst>
      <p:ext uri="{BB962C8B-B14F-4D97-AF65-F5344CB8AC3E}">
        <p14:creationId xmlns:p14="http://schemas.microsoft.com/office/powerpoint/2010/main" val="17376509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D1E8E9-C5EC-4A35-886F-8EB8AC14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BLOOMTVET MATHGEN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8FEF5-6B08-4CE1-961D-E78F1CA0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Lecturers can review quality before students see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2763C-FCA6-4522-BB0B-90F660A6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0B058-DCF7-434A-80A8-A681BE23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58423-19D6-4123-9917-8AF0A87C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717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Teacher Review checks whether the question fits the intended Bloom level.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112DB-D72C-4754-9149-2D4F02CC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83B7E-FE66-4FAD-80E6-488277AA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Misconception mode highlights common student errors.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33F7B-C521-4C5F-8627-1A60CEDB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EEE5CB-796A-4465-9091-A27AACFB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The chatbot can suggest clearer wording or stronger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734E49-31A5-4BDA-A3C5-743C14CE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43434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B576E0-2150-40B9-93E8-20B1DA58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812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Lecturer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902102-4B02-4842-A40F-7BD31E7A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05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0CC809-800A-442D-8B44-4304CAE7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289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Bloom alignment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986E32-355A-4AF8-BFBD-1627EF58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29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6050C1-E8FF-4313-8036-4B611132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5282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Difficulty consistency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E5E5C1-512E-4D2A-9099-97B5B032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52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E192F8-6DB6-4A2E-B954-F46FA3D0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767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Question improvement</a:t>
            </a:r>
          </a:p>
        </p:txBody>
      </p:sp>
    </p:spTree>
    <p:extLst>
      <p:ext uri="{BB962C8B-B14F-4D97-AF65-F5344CB8AC3E}">
        <p14:creationId xmlns:p14="http://schemas.microsoft.com/office/powerpoint/2010/main" val="12188985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789F5C-9177-4205-B5C5-C25654C5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BLOOMTVET MATHGEN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DFA65-F780-4E10-8D38-31F7FA2C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The workflow closes the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FDCFF-577F-421F-8479-967AFF4F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ED25E-538C-4FF3-A42F-7DE9D662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45529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3B1A8-CED6-4571-B160-94947DD2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59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</a:defRPr>
            </a:pPr>
            <a:r>
              <a:rPr sz="270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68510-AB65-4C8C-BAAA-769A4F81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7172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Select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CF5DC-A68E-4849-988D-4F8A7E28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43200"/>
            <a:ext cx="3162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Lecturer chooses course, subtopic, Bloom level, and difficulty.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4DC72-E013-472F-A513-E9F7D655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14550"/>
            <a:ext cx="45529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00F4EE-0058-4F24-BE35-77FB998F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43150"/>
            <a:ext cx="59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</a:defRPr>
            </a:pPr>
            <a:r>
              <a:rPr sz="27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7DE9F-CB4E-4E1B-9EB8-416CDEF0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7172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Generate question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624D87-3437-439D-88B3-08DDCFA3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43200"/>
            <a:ext cx="3162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The app creates the item, answer, and marking scheme.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24CC2-8E34-466B-BFBB-23276D52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45529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3D4558-9219-4C63-8927-4F95570A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59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</a:defRPr>
            </a:pPr>
            <a:r>
              <a:rPr sz="270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476490-4B56-4610-BBCA-6ED16089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957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Review quality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C2AEB1-7046-4026-8F96-4218F33C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3162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Lecturer checks alignment and improves wording.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B0BC2B-739D-4009-A192-0E96B3A3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38600"/>
            <a:ext cx="45529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138E31-09DB-4A7A-8CE1-9D2E53E6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67200"/>
            <a:ext cx="59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4A853"/>
                </a:solidFill>
              </a:defRPr>
            </a:pPr>
            <a:r>
              <a:rPr sz="2700" b="1">
                <a:solidFill>
                  <a:srgbClr val="34A85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739AE8-9D36-4B95-91BC-5EFD7151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957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Coach learning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456CF2-2817-4A68-BA1F-CCD91552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67250"/>
            <a:ext cx="3162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Student uses BloomCoach for hints, steps, visuals, or story support.</a:t>
            </a:r>
          </a:p>
        </p:txBody>
      </p:sp>
    </p:spTree>
    <p:extLst>
      <p:ext uri="{BB962C8B-B14F-4D97-AF65-F5344CB8AC3E}">
        <p14:creationId xmlns:p14="http://schemas.microsoft.com/office/powerpoint/2010/main" val="16925876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22BA30-5509-4D89-96E4-16AE5E30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BLOOMTVET MATHGEN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FD6F2-35FA-41B9-A110-A0EA5F9F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A generated question becomes a richer learning object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10E56-7F9A-4491-9F3C-C54F9272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9E402-6836-496D-A499-8754EFD3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C2A5A-7C44-4C7A-897E-8C409C48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717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Question: calculate a measurement, cost, ratio, or process value from a TVET scenario.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AAB7D-4752-47F0-A38C-50580A1A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E49F59-1358-48FD-8CD9-121DDD28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Assessment output: answer, marking scheme, Bloom level, difficulty rationale.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9906E-3EF4-4010-810B-7F566CB7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F9B87-D6DB-4610-97DE-89140561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BloomCoach output: hint, explanation, visual idea, misconception warning, and challenge 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8590D-0E31-47E7-8167-98465043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43434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9F0F4-1603-41CF-B8A1-5E988FA1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812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Output shift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8F30D1-E5C9-4A2B-A500-CE5A9253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05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865439-8AC8-42A9-9955-4DF18FD9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289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From item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5CF79C-82E1-4CDE-8315-69E9332C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29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94F5C5-EBAD-44FD-9D85-689980A2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5282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To guided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169B5D-58B3-4930-9C14-8C85DA10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52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4E576B-2E59-4DA1-8208-D9D2C9EE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767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To reviewable evidence</a:t>
            </a:r>
          </a:p>
        </p:txBody>
      </p:sp>
    </p:spTree>
    <p:extLst>
      <p:ext uri="{BB962C8B-B14F-4D97-AF65-F5344CB8AC3E}">
        <p14:creationId xmlns:p14="http://schemas.microsoft.com/office/powerpoint/2010/main" val="1559506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4FA1FF-3AF4-4612-8A76-B2F860FB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BLOOMTVET MATHGEN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37A30-6D46-47D0-9F29-15BE056F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The technology stack supports live AI and future deployment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4799D-B4E3-480D-AEDF-9877685E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5E930-A3CC-4AD1-9273-02E2FE81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3C597-7E2D-4936-8494-C92EAC95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717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Next.js, React, TypeScript, and Tailwind CSS for the web application.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46D61-A6B4-43E0-B6EC-B9C6E99E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9D9FD-94AD-4455-AC03-5FCFF9B9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Gemini-ready API routes for generation and BloomCoach live chat.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7CF5D-2256-4F62-867F-FFF305BA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A40209-EC8C-4E52-9591-CBEE7445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Supabase and LMS integration paths are documented for scaling.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A48D0B-88E4-46B4-8125-E57A8004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43434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074561-C902-49FA-ADAE-1BCACB3A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812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Technical foundation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9FA61E-190A-462B-A593-35C93A51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05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764DEB-1842-4ACD-8FCE-6C875163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289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Modern web app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8CEA7E-2601-4F48-9CA8-3AA0E619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29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F5BFB6-48B1-4ACE-B901-AB8FAB74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5282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Live AI route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C17BB4-22D5-4A78-A86F-8A508F80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52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C91CA4-1DC5-4280-87DB-594FFA45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767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Extensible data layer</a:t>
            </a:r>
          </a:p>
        </p:txBody>
      </p:sp>
    </p:spTree>
    <p:extLst>
      <p:ext uri="{BB962C8B-B14F-4D97-AF65-F5344CB8AC3E}">
        <p14:creationId xmlns:p14="http://schemas.microsoft.com/office/powerpoint/2010/main" val="16287012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F31206-7D48-4BCA-9EE1-D434460B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BLOOMTVET MATHGEN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73C22-54DD-4F69-ABFD-FF27884F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The innovation is the combination, not just the chatbot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7A16E-17E6-4EEA-94AE-834F54FB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683EF-AF5D-4BE4-AC2F-A00AB936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8E47A-21DB-4AA1-AE41-71E208AB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717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Most tools generate content; this app standardizes assessment decisions.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23DDB-8AB8-43A6-8947-0476EC59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B12E94-7FA2-4484-B768-26459227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BloomCoach adds support after generation without changing the main purpose.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5DDBC-764F-42F7-B27C-1C06ED89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3ADB6-ADA4-47A2-8A13-277F6ECE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The lecturer can use AI for both creation and pedagogical review.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6E6498-3658-49DE-A67D-63C8C3C7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43434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B0741-C4CC-4266-A2D4-85820BD8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812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Why it stands 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3D09C5-2102-4E6A-8E5A-A187B572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05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EE86B3-78E7-47E4-8E41-2CB26900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289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Assessment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0AE18B-CCEE-4C2D-B4FE-FCEE38AF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29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2E8EBA-FB63-413D-AE71-DA2B5BA2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5282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Learning support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62D4C6-6650-4176-832D-E1790629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52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C5D275-0A8F-4D6B-AC83-C07829C4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767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TVET context</a:t>
            </a:r>
          </a:p>
        </p:txBody>
      </p:sp>
    </p:spTree>
    <p:extLst>
      <p:ext uri="{BB962C8B-B14F-4D97-AF65-F5344CB8AC3E}">
        <p14:creationId xmlns:p14="http://schemas.microsoft.com/office/powerpoint/2010/main" val="10260545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EF1297-9183-44DF-B584-E1E4F0F0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BLOOMTVET MATHGEN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08E22-120D-4B8E-A292-37344386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The expected impact is practical and classroom-facing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AA441-5A83-43E1-808A-8A6FDD23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ABC52-40D5-42E9-B696-0CCFFDEF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E820D-45F4-48DA-BE98-88D922AD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717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Lecturers save preparation time while improving question consistency.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EB5A34-FA52-43F0-83C2-1683D940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2B72C1-CF19-45E7-B766-2673BBC0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Students receive clearer learning support for difficult mathematics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B9703-077C-4B39-AA5C-72FD0CA1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7776A-A41F-491C-B30B-7EED64D3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Programs can build a more consistent assessment culture across cohorts.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A3B56-0609-45F5-B88E-982CFCB6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43434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4989A0-D8E7-41F4-8318-B73E2C46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812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Impact areas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73C11F-47F9-4395-8910-26BDE35B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05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094FD6-5A3E-4DC8-AA1E-B3025574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289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Efficiency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CBF64E-1DCB-4A8A-A2F7-CBD13880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29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6A516A-CDEA-4A9C-956F-B6967783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5282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Fairness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EDBB8E-6216-47A2-B485-F3867DC1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52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727F03-33F9-4D79-BB52-86F060EF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767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Student confidence</a:t>
            </a:r>
          </a:p>
        </p:txBody>
      </p:sp>
    </p:spTree>
    <p:extLst>
      <p:ext uri="{BB962C8B-B14F-4D97-AF65-F5344CB8AC3E}">
        <p14:creationId xmlns:p14="http://schemas.microsoft.com/office/powerpoint/2010/main" val="6252287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593738-0ACB-40B9-A0D2-5EABB733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BLOOMTVET MATHGEN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DAC3E3-F0F2-4FA9-97F8-2BD6610C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Future development can make the AI more visual and measurable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DE5F0-6B52-4EF8-A96A-0AE1756A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CEDB4-F0C9-4CAF-89DF-EBB0E6D8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4A0C58-8F09-41D3-84D3-6144B5B8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717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Render chatbot-generated diagrams directly inside the app.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E63B3-A782-4BF5-8B8A-5443ADAC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4C395-57BB-43F9-94F9-7B68AB86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Add mini games, scoring, and mastery tracking for repeated practice.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F61BC-74A7-4D23-94C9-F501D83A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ADEC97-36C6-47F6-8777-B341AB48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Save learning history and lecturer review analytics through Supabase.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F7ED7F-1716-4D5E-BE3A-29330390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43434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143A40-6B00-45AD-8B8C-97EDE967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812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Next version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EC76AF-1A61-415B-A194-24DB9FE1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05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D676F9-6A69-4784-B1EF-6B822DA8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289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Visual diagrams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960A54-7583-4B96-A5A4-B374C228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29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EB6EA-A567-4D6E-9CD4-58C05902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5282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Interactive practice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0A04E6-B3F6-464B-A33D-D58DA1EA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52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393478-334D-4830-87AB-9184B3D5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767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Progress analytics</a:t>
            </a:r>
          </a:p>
        </p:txBody>
      </p:sp>
    </p:spTree>
    <p:extLst>
      <p:ext uri="{BB962C8B-B14F-4D97-AF65-F5344CB8AC3E}">
        <p14:creationId xmlns:p14="http://schemas.microsoft.com/office/powerpoint/2010/main" val="8860834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C85C4-80B7-4B02-9957-8FBA37B4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5563"/>
                </a:solidFill>
              </a:defRPr>
            </a:pPr>
            <a:r>
              <a:rPr sz="1800" b="1">
                <a:solidFill>
                  <a:srgbClr val="4B5563"/>
                </a:solidFill>
              </a:rPr>
              <a:t>Competition pitch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A75AEF-215D-4AB6-B9A1-E86AEB75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9620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0000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BloomTVET MathGen closes the loop between standardized assessment design and guided student learning.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E281C9-9115-4B94-ACD6-731720A4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6C80E-E4C7-4717-A67E-C436A537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Primary value: lecturer assessment standardization</a:t>
            </a:r>
          </a:p>
          <a:p xmlns:a="http://schemas.openxmlformats.org/drawingml/2006/main"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Secondary value: student learning support through BloomCoach AI</a:t>
            </a:r>
          </a:p>
        </p:txBody>
      </p:sp>
    </p:spTree>
    <p:extLst>
      <p:ext uri="{BB962C8B-B14F-4D97-AF65-F5344CB8AC3E}">
        <p14:creationId xmlns:p14="http://schemas.microsoft.com/office/powerpoint/2010/main" val="15731514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2026-08-21T16:26:38.2770000Z</dcterms:created>
  <dcterms:modified xsi:type="dcterms:W3CDTF">2026-08-21T16:26:38.2780000Z</dcterms:modified>
</coreProperties>
</file>